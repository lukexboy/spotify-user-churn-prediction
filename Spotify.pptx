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12192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376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gZ+98laEv5tT71wggE/Jqi2EYz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a2abded7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a2abded7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a2abded7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3cbe2ea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a3cbe2ea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a3cbe2ea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74e2fdd7_2_490"/>
          <p:cNvSpPr/>
          <p:nvPr/>
        </p:nvSpPr>
        <p:spPr>
          <a:xfrm>
            <a:off x="2033067" y="896808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g3a974e2fdd7_2_490"/>
          <p:cNvSpPr/>
          <p:nvPr/>
        </p:nvSpPr>
        <p:spPr>
          <a:xfrm rot="10800000">
            <a:off x="8716786" y="4457271"/>
            <a:ext cx="1442131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3810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6" name="Google Shape;16;g3a974e2fdd7_2_490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g3a974e2fdd7_2_490"/>
          <p:cNvSpPr txBox="1"/>
          <p:nvPr>
            <p:ph type="ctrTitle"/>
          </p:nvPr>
        </p:nvSpPr>
        <p:spPr>
          <a:xfrm>
            <a:off x="2240402" y="1585234"/>
            <a:ext cx="7711200" cy="1943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8" name="Google Shape;18;g3a974e2fdd7_2_490"/>
          <p:cNvSpPr txBox="1"/>
          <p:nvPr>
            <p:ph idx="1" type="subTitle"/>
          </p:nvPr>
        </p:nvSpPr>
        <p:spPr>
          <a:xfrm>
            <a:off x="2240402" y="4065933"/>
            <a:ext cx="7711200" cy="121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Roboto Slab"/>
              <a:buNone/>
              <a:defRPr sz="32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9" name="Google Shape;19;g3a974e2fdd7_2_49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a974e2fdd7_2_497"/>
          <p:cNvCxnSpPr/>
          <p:nvPr/>
        </p:nvCxnSpPr>
        <p:spPr>
          <a:xfrm>
            <a:off x="5812802" y="375661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a974e2fdd7_2_497"/>
          <p:cNvSpPr txBox="1"/>
          <p:nvPr>
            <p:ph type="title"/>
          </p:nvPr>
        </p:nvSpPr>
        <p:spPr>
          <a:xfrm>
            <a:off x="641000" y="2353267"/>
            <a:ext cx="10962900" cy="1209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3" name="Google Shape;23;g3a974e2fdd7_2_49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974e2fdd7_2_501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g3a974e2fdd7_2_501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7" name="Google Shape;27;g3a974e2fdd7_2_501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8" name="Google Shape;28;g3a974e2fdd7_2_5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974e2fdd7_2_506"/>
          <p:cNvCxnSpPr/>
          <p:nvPr/>
        </p:nvCxnSpPr>
        <p:spPr>
          <a:xfrm>
            <a:off x="656750" y="1680378"/>
            <a:ext cx="5664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g3a974e2fdd7_2_506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" name="Google Shape;32;g3a974e2fdd7_2_506"/>
          <p:cNvSpPr txBox="1"/>
          <p:nvPr>
            <p:ph idx="1" type="body"/>
          </p:nvPr>
        </p:nvSpPr>
        <p:spPr>
          <a:xfrm>
            <a:off x="5172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g3a974e2fdd7_2_506"/>
          <p:cNvSpPr txBox="1"/>
          <p:nvPr>
            <p:ph idx="2" type="body"/>
          </p:nvPr>
        </p:nvSpPr>
        <p:spPr>
          <a:xfrm>
            <a:off x="6341600" y="1986433"/>
            <a:ext cx="5333100" cy="410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g3a974e2fdd7_2_50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974e2fdd7_2_512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7" name="Google Shape;37;g3a974e2fdd7_2_5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g3a974e2fdd7_2_515"/>
          <p:cNvCxnSpPr/>
          <p:nvPr/>
        </p:nvCxnSpPr>
        <p:spPr>
          <a:xfrm>
            <a:off x="652291" y="1883036"/>
            <a:ext cx="441900" cy="0"/>
          </a:xfrm>
          <a:prstGeom prst="straightConnector1">
            <a:avLst/>
          </a:prstGeom>
          <a:noFill/>
          <a:ln cap="flat" cmpd="sng" w="508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974e2fdd7_2_515"/>
          <p:cNvSpPr txBox="1"/>
          <p:nvPr>
            <p:ph type="title"/>
          </p:nvPr>
        </p:nvSpPr>
        <p:spPr>
          <a:xfrm>
            <a:off x="5172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1" name="Google Shape;41;g3a974e2fdd7_2_515"/>
          <p:cNvSpPr txBox="1"/>
          <p:nvPr>
            <p:ph idx="1" type="body"/>
          </p:nvPr>
        </p:nvSpPr>
        <p:spPr>
          <a:xfrm>
            <a:off x="517200" y="2125367"/>
            <a:ext cx="3744000" cy="357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974e2fdd7_2_5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a974e2fdd7_2_520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5" name="Google Shape;45;g3a974e2fdd7_2_5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a974e2fdd7_2_523"/>
          <p:cNvSpPr/>
          <p:nvPr/>
        </p:nvSpPr>
        <p:spPr>
          <a:xfrm>
            <a:off x="6096000" y="-100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g3a974e2fdd7_2_523"/>
          <p:cNvCxnSpPr/>
          <p:nvPr/>
        </p:nvCxnSpPr>
        <p:spPr>
          <a:xfrm>
            <a:off x="6706233" y="5994004"/>
            <a:ext cx="721200" cy="0"/>
          </a:xfrm>
          <a:prstGeom prst="straightConnector1">
            <a:avLst/>
          </a:prstGeom>
          <a:noFill/>
          <a:ln cap="flat" cmpd="sng" w="508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974e2fdd7_2_523"/>
          <p:cNvSpPr txBox="1"/>
          <p:nvPr>
            <p:ph type="title"/>
          </p:nvPr>
        </p:nvSpPr>
        <p:spPr>
          <a:xfrm>
            <a:off x="354000" y="1612100"/>
            <a:ext cx="5393700" cy="20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50" name="Google Shape;50;g3a974e2fdd7_2_523"/>
          <p:cNvSpPr txBox="1"/>
          <p:nvPr>
            <p:ph idx="1" type="subTitle"/>
          </p:nvPr>
        </p:nvSpPr>
        <p:spPr>
          <a:xfrm>
            <a:off x="354000" y="36920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1" name="Google Shape;51;g3a974e2fdd7_2_523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g3a974e2fdd7_2_5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974e2fdd7_2_530"/>
          <p:cNvSpPr txBox="1"/>
          <p:nvPr>
            <p:ph idx="1" type="body"/>
          </p:nvPr>
        </p:nvSpPr>
        <p:spPr>
          <a:xfrm>
            <a:off x="426000" y="5644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5" name="Google Shape;55;g3a974e2fdd7_2_5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74e2fdd7_2_533"/>
          <p:cNvSpPr/>
          <p:nvPr/>
        </p:nvSpPr>
        <p:spPr>
          <a:xfrm>
            <a:off x="200" y="6769100"/>
            <a:ext cx="12191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974e2fdd7_2_533"/>
          <p:cNvSpPr txBox="1"/>
          <p:nvPr>
            <p:ph hasCustomPrompt="1" type="title"/>
          </p:nvPr>
        </p:nvSpPr>
        <p:spPr>
          <a:xfrm>
            <a:off x="517200" y="1536600"/>
            <a:ext cx="111576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300"/>
              <a:buNone/>
              <a:defRPr sz="173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g3a974e2fdd7_2_533"/>
          <p:cNvSpPr txBox="1"/>
          <p:nvPr>
            <p:ph idx="1" type="body"/>
          </p:nvPr>
        </p:nvSpPr>
        <p:spPr>
          <a:xfrm>
            <a:off x="517200" y="3892600"/>
            <a:ext cx="111576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0" name="Google Shape;60;g3a974e2fdd7_2_5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974e2fdd7_2_5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g3a974e2fdd7_2_5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74e2fdd7_2_486"/>
          <p:cNvSpPr txBox="1"/>
          <p:nvPr>
            <p:ph type="title"/>
          </p:nvPr>
        </p:nvSpPr>
        <p:spPr>
          <a:xfrm>
            <a:off x="517200" y="610700"/>
            <a:ext cx="111576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 Slab"/>
              <a:buNone/>
              <a:defRPr sz="4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1" name="Google Shape;11;g3a974e2fdd7_2_486"/>
          <p:cNvSpPr txBox="1"/>
          <p:nvPr>
            <p:ph idx="1" type="body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  <a:defRPr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●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○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oboto"/>
              <a:buChar char="■"/>
              <a:defRPr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3a974e2fdd7_2_4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351" y="2628900"/>
            <a:ext cx="1143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7151" y="3919537"/>
            <a:ext cx="762000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81551" y="377190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2551" y="3919537"/>
            <a:ext cx="762000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"/>
          <p:cNvSpPr/>
          <p:nvPr/>
        </p:nvSpPr>
        <p:spPr>
          <a:xfrm>
            <a:off x="1026775" y="1844800"/>
            <a:ext cx="10326300" cy="9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lang="en-US" sz="4800">
                <a:solidFill>
                  <a:srgbClr val="FFFFFF"/>
                </a:solidFill>
              </a:rPr>
              <a:t>Spotify User Churn Prediction 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2546875" y="4625700"/>
            <a:ext cx="72861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ECE 1513 - Xing Liu, Lijin Gao, Azure Lin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</a:rPr>
              <a:t>Problem Definition and Core Challenges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381000" y="116205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FF"/>
                </a:solidFill>
              </a:rPr>
              <a:t>Objective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808225" y="1581150"/>
            <a:ext cx="44235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76300" y="1553263"/>
            <a:ext cx="52812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-"/>
            </a:pPr>
            <a:r>
              <a:rPr lang="en-US" sz="2400">
                <a:solidFill>
                  <a:schemeClr val="dk1"/>
                </a:solidFill>
              </a:rPr>
              <a:t>Identify high-risk churn users</a:t>
            </a:r>
            <a:endParaRPr i="0" sz="24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381000" y="2352675"/>
            <a:ext cx="377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1" lang="en-US" sz="1800">
                <a:solidFill>
                  <a:srgbClr val="FFFFFF"/>
                </a:solidFill>
              </a:rPr>
              <a:t>Challenge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533400" y="2831150"/>
            <a:ext cx="5216100" cy="27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AutoNum type="arabicPeriod"/>
            </a:pPr>
            <a:r>
              <a:rPr lang="en-US" sz="1800">
                <a:solidFill>
                  <a:srgbClr val="D1D5DB"/>
                </a:solidFill>
              </a:rPr>
              <a:t>Mix of data types: </a:t>
            </a:r>
            <a:r>
              <a:rPr b="1" lang="en-US" sz="1800">
                <a:solidFill>
                  <a:srgbClr val="D1D5DB"/>
                </a:solidFill>
              </a:rPr>
              <a:t>Numerical / Categorical</a:t>
            </a:r>
            <a:endParaRPr b="1" sz="1800">
              <a:solidFill>
                <a:srgbClr val="D1D5DB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AutoNum type="arabicPeriod"/>
            </a:pPr>
            <a:r>
              <a:rPr lang="en-US" sz="1800">
                <a:solidFill>
                  <a:srgbClr val="D1D5DB"/>
                </a:solidFill>
              </a:rPr>
              <a:t>Imbalanced </a:t>
            </a:r>
            <a:r>
              <a:rPr b="1" lang="en-US" sz="1800">
                <a:solidFill>
                  <a:srgbClr val="D1D5DB"/>
                </a:solidFill>
              </a:rPr>
              <a:t>Target</a:t>
            </a:r>
            <a:r>
              <a:rPr lang="en-US" sz="1800">
                <a:solidFill>
                  <a:srgbClr val="D1D5DB"/>
                </a:solidFill>
              </a:rPr>
              <a:t> Variable: </a:t>
            </a:r>
            <a:endParaRPr sz="1800">
              <a:solidFill>
                <a:srgbClr val="D1D5DB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D1D5DB"/>
              </a:solidFill>
            </a:endParaRPr>
          </a:p>
        </p:txBody>
      </p:sp>
      <p:pic>
        <p:nvPicPr>
          <p:cNvPr id="88" name="Google Shape;88;p2" title="output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952" y="3687350"/>
            <a:ext cx="4740049" cy="264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 txBox="1"/>
          <p:nvPr/>
        </p:nvSpPr>
        <p:spPr>
          <a:xfrm>
            <a:off x="6386000" y="1903675"/>
            <a:ext cx="5022900" cy="3728700"/>
          </a:xfrm>
          <a:prstGeom prst="rect">
            <a:avLst/>
          </a:prstGeom>
          <a:noFill/>
          <a:ln cap="flat" cmpd="sng" w="190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FFFFFF"/>
                </a:solidFill>
              </a:rPr>
              <a:t>Solution</a:t>
            </a:r>
            <a:endParaRPr b="1" i="1"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>
              <a:solidFill>
                <a:srgbClr val="FFFFFF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2400"/>
              <a:buAutoNum type="arabicPeriod"/>
            </a:pPr>
            <a:r>
              <a:rPr lang="en-US" sz="2400">
                <a:solidFill>
                  <a:srgbClr val="D1D5DB"/>
                </a:solidFill>
              </a:rPr>
              <a:t>One-hot code categorical features</a:t>
            </a:r>
            <a:endParaRPr sz="2400">
              <a:solidFill>
                <a:srgbClr val="D1D5DB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1D5DB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2400"/>
              <a:buAutoNum type="arabicPeriod"/>
            </a:pPr>
            <a:r>
              <a:rPr lang="en-US" sz="2400">
                <a:solidFill>
                  <a:srgbClr val="D1D5DB"/>
                </a:solidFill>
              </a:rPr>
              <a:t>Use F1 score / Recall for evaluation</a:t>
            </a:r>
            <a:endParaRPr sz="2400">
              <a:solidFill>
                <a:srgbClr val="D1D5D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1D5DB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2400"/>
              <a:buAutoNum type="arabicPeriod"/>
            </a:pPr>
            <a:r>
              <a:rPr lang="en-US" sz="2400">
                <a:solidFill>
                  <a:srgbClr val="D1D5DB"/>
                </a:solidFill>
              </a:rPr>
              <a:t>Hyperparameter tuning</a:t>
            </a:r>
            <a:endParaRPr sz="2400">
              <a:solidFill>
                <a:srgbClr val="D1D5D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1D5D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1D5D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1D5D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1D5D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8382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25" y="954600"/>
            <a:ext cx="12063850" cy="8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</a:rPr>
              <a:t>Model Selection and Evolution Process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380300" y="1859813"/>
            <a:ext cx="4410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Regularized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Logistic Regression (</a:t>
            </a:r>
            <a:r>
              <a:rPr b="1" lang="en-US" sz="2000">
                <a:solidFill>
                  <a:srgbClr val="FFFFFF"/>
                </a:solidFill>
              </a:rPr>
              <a:t>Final Model)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81000" y="2588375"/>
            <a:ext cx="2960700" cy="2942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rPr lang="en-US" sz="1800">
                <a:solidFill>
                  <a:srgbClr val="86EFAC"/>
                </a:solidFill>
              </a:rPr>
              <a:t>Pros:</a:t>
            </a:r>
            <a:endParaRPr sz="1800">
              <a:solidFill>
                <a:srgbClr val="86EFAC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Clear Visualization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Highly Interpretable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4ADE8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rPr lang="en-US" sz="1800">
                <a:solidFill>
                  <a:srgbClr val="F87171"/>
                </a:solidFill>
              </a:rPr>
              <a:t>Cons:</a:t>
            </a:r>
            <a:endParaRPr sz="1800">
              <a:solidFill>
                <a:srgbClr val="F8717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Overfitting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771900" y="1859813"/>
            <a:ext cx="242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Neural Network: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771900" y="2588375"/>
            <a:ext cx="3178200" cy="3481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rPr lang="en-US" sz="1800">
                <a:solidFill>
                  <a:srgbClr val="86EFAC"/>
                </a:solidFill>
              </a:rPr>
              <a:t>Pros:</a:t>
            </a:r>
            <a:endParaRPr sz="1800">
              <a:solidFill>
                <a:srgbClr val="86EFAC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Track data non-linearity</a:t>
            </a:r>
            <a:r>
              <a:rPr lang="en-US" sz="1800">
                <a:solidFill>
                  <a:srgbClr val="4ADE80"/>
                </a:solidFill>
              </a:rPr>
              <a:t> </a:t>
            </a:r>
            <a:endParaRPr sz="1800">
              <a:solidFill>
                <a:srgbClr val="4ADE8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rgbClr val="4ADE8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rPr lang="en-US" sz="1800">
                <a:solidFill>
                  <a:srgbClr val="F87171"/>
                </a:solidFill>
              </a:rPr>
              <a:t>Cons: </a:t>
            </a:r>
            <a:endParaRPr sz="1800">
              <a:solidFill>
                <a:srgbClr val="F8717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High training cost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Model black box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81000" y="1859813"/>
            <a:ext cx="273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Tree-based Model: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380300" y="2588375"/>
            <a:ext cx="3828300" cy="3698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rPr lang="en-US" sz="1800">
                <a:solidFill>
                  <a:srgbClr val="86EFAC"/>
                </a:solidFill>
              </a:rPr>
              <a:t>Pros:</a:t>
            </a:r>
            <a:endParaRPr sz="1800">
              <a:solidFill>
                <a:srgbClr val="86EFAC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Highly Interpretable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Highest F1 score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US" sz="1800">
                <a:solidFill>
                  <a:schemeClr val="dk1"/>
                </a:solidFill>
              </a:rPr>
              <a:t>Low training cost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rgbClr val="4ADE80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Arial"/>
              <a:buNone/>
            </a:pPr>
            <a:r>
              <a:rPr lang="en-US" sz="1800">
                <a:solidFill>
                  <a:srgbClr val="F87171"/>
                </a:solidFill>
              </a:rPr>
              <a:t>Cons:</a:t>
            </a:r>
            <a:endParaRPr sz="1800">
              <a:solidFill>
                <a:srgbClr val="F8717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-    Inability of capturing non-linearity</a:t>
            </a:r>
            <a:r>
              <a:rPr lang="en-US" sz="1800">
                <a:solidFill>
                  <a:srgbClr val="4ADE80"/>
                </a:solidFill>
              </a:rPr>
              <a:t> </a:t>
            </a:r>
            <a:endParaRPr sz="1800">
              <a:solidFill>
                <a:srgbClr val="4ADE80"/>
              </a:solidFill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360025" y="3625275"/>
            <a:ext cx="1488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ADE80"/>
              </a:solidFill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0039200" y="2716175"/>
            <a:ext cx="158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81000" y="1162050"/>
            <a:ext cx="1171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050"/>
              <a:buFont typeface="Arial"/>
              <a:buNone/>
            </a:pPr>
            <a:r>
              <a:rPr b="1" i="1" lang="en-US" sz="1800">
                <a:solidFill>
                  <a:schemeClr val="dk1"/>
                </a:solidFill>
              </a:rPr>
              <a:t>Principle of Model Selection</a:t>
            </a:r>
            <a:r>
              <a:rPr b="1" lang="en-US" sz="1800">
                <a:solidFill>
                  <a:schemeClr val="dk1"/>
                </a:solidFill>
              </a:rPr>
              <a:t>：</a:t>
            </a:r>
            <a:r>
              <a:rPr lang="en-US" sz="1450">
                <a:solidFill>
                  <a:srgbClr val="FB923C"/>
                </a:solidFill>
              </a:rPr>
              <a:t> </a:t>
            </a:r>
            <a:r>
              <a:rPr lang="en-US" sz="1800">
                <a:solidFill>
                  <a:schemeClr val="dk1"/>
                </a:solidFill>
              </a:rPr>
              <a:t>Balance between complexity, performance, and interpretability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g3aa2abded78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8382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aa2abded78_0_23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</a:rPr>
              <a:t>Result and Conclusion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g3aa2abded78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971" y="955475"/>
            <a:ext cx="4586100" cy="45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aa2abded78_0_23"/>
          <p:cNvSpPr txBox="1"/>
          <p:nvPr/>
        </p:nvSpPr>
        <p:spPr>
          <a:xfrm>
            <a:off x="817771" y="5614725"/>
            <a:ext cx="4654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models achieve similar performance 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 is the best (F1 = 0.419)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g3aa2abded78_0_23" title="ece1513 pre.png"/>
          <p:cNvPicPr preferRelativeResize="0"/>
          <p:nvPr/>
        </p:nvPicPr>
        <p:blipFill rotWithShape="1">
          <a:blip r:embed="rId5">
            <a:alphaModFix/>
          </a:blip>
          <a:srcRect b="0" l="3236" r="3236" t="4979"/>
          <a:stretch/>
        </p:blipFill>
        <p:spPr>
          <a:xfrm>
            <a:off x="5613399" y="955475"/>
            <a:ext cx="5698197" cy="45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aa2abded78_0_23"/>
          <p:cNvSpPr txBox="1"/>
          <p:nvPr/>
        </p:nvSpPr>
        <p:spPr>
          <a:xfrm>
            <a:off x="5576511" y="5614725"/>
            <a:ext cx="5698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Importance &amp; Business Insight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churn drivers: songs played per day, gender, age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-"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Improvement: collecting time series features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a3cbe2ea7_0_10"/>
          <p:cNvSpPr txBox="1"/>
          <p:nvPr/>
        </p:nvSpPr>
        <p:spPr>
          <a:xfrm>
            <a:off x="518250" y="252125"/>
            <a:ext cx="41853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</a:rPr>
              <a:t>Appendix and reference</a:t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124" name="Google Shape;124;g3aa3cbe2ea7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750" y="938525"/>
            <a:ext cx="3840800" cy="28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aa3cbe2ea7_0_10" title="Screenshot 2025-11-27 at 10.36.26 AM.png"/>
          <p:cNvPicPr preferRelativeResize="0"/>
          <p:nvPr/>
        </p:nvPicPr>
        <p:blipFill rotWithShape="1">
          <a:blip r:embed="rId4">
            <a:alphaModFix/>
          </a:blip>
          <a:srcRect b="2417" l="0" r="0" t="2407"/>
          <a:stretch/>
        </p:blipFill>
        <p:spPr>
          <a:xfrm>
            <a:off x="6380600" y="938525"/>
            <a:ext cx="4130149" cy="351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aa3cbe2ea7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2989" y="4051400"/>
            <a:ext cx="3775811" cy="25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aa3cbe2ea7_0_10"/>
          <p:cNvSpPr txBox="1"/>
          <p:nvPr/>
        </p:nvSpPr>
        <p:spPr>
          <a:xfrm>
            <a:off x="4916475" y="4803725"/>
            <a:ext cx="7058400" cy="83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loaded from: https://www.kaggle.com/datasets/nabihazahid/spotify-dataset-for-churn-analysis/data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2025-11-24T21:13:09Z</dcterms:created>
  <dc:creator>PptxGenJS</dc:creator>
</cp:coreProperties>
</file>